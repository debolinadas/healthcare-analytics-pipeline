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DM Sans Medium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  <p:embeddedFont>
      <p:font typeface="DM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B6B7D5-AE7C-4BA8-8996-2F86802B87AE}">
  <a:tblStyle styleId="{EAB6B7D5-AE7C-4BA8-8996-2F86802B87A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regular.fntdata"/><Relationship Id="rId22" Type="http://schemas.openxmlformats.org/officeDocument/2006/relationships/font" Target="fonts/DMSansMedium-italic.fntdata"/><Relationship Id="rId21" Type="http://schemas.openxmlformats.org/officeDocument/2006/relationships/font" Target="fonts/DMSansMedium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DMSans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8" Type="http://schemas.openxmlformats.org/officeDocument/2006/relationships/font" Target="fonts/DMSans-regular.fntdata"/><Relationship Id="rId27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3.png"/><Relationship Id="rId5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9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1868834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Healthcare Ingestion &amp; Clinical Insights Engine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116734"/>
            <a:ext cx="7620000" cy="8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An End-to-End Analytics Framework for Data-Driven Decision Making &amp; Operational Optimization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71500" y="3926234"/>
            <a:ext cx="7620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6400800"/>
            <a:ext cx="19335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A4A4A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Technical Analyst Presentation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0353675" y="6400800"/>
            <a:ext cx="12668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A4A4A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Debolina Das |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295275" y="1181100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Business Case &amp; Strategic Objective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2286000" y="1943100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Bridging the gap between disparate healthcare operational metrics and actionable executive insights.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98352"/>
            <a:ext cx="5238750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98352"/>
            <a:ext cx="5238750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09625" y="571500"/>
            <a:ext cx="11351418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 &amp; SOLUTION ARCHITECTURE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571500"/>
            <a:ext cx="76200" cy="100578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1028700" y="3517552"/>
            <a:ext cx="46205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Operational Barriers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028700" y="4003327"/>
            <a:ext cx="44005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Healthcare providers manage disconnected data across demographics, clinical appointments, and financial transactions. This fragmentation prevents a unified view of patient journeys and resource efficiency.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838950" y="3517552"/>
            <a:ext cx="46205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Technical Design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838950" y="4003327"/>
            <a:ext cx="44005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Implementation of an automated Python-based ETL pipeline paired with a relational MySQL repository to centralize tracking, automate KPI reporting, and optimize department-level performance.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8700" y="273650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38950" y="2736502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09625" y="870198"/>
            <a:ext cx="4950618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END-TO-END TECHNICAL STACK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571500" y="870198"/>
            <a:ext cx="76200" cy="100578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2838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000125" y="2256978"/>
            <a:ext cx="4524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6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Ingestion Layer:</a:t>
            </a:r>
            <a:r>
              <a:rPr b="0" i="0" lang="en-US" sz="16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Python scripting for automated CSV extraction and schema validation.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000125" y="3500586"/>
            <a:ext cx="4524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Storage Layer:</a:t>
            </a:r>
            <a:r>
              <a:rPr b="0" i="0" lang="en-US" sz="16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Optimized MySQL RDBMS with enforced relational integrity and cascading updates.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000125" y="4744194"/>
            <a:ext cx="4524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Analytical Layer:</a:t>
            </a:r>
            <a:r>
              <a:rPr b="0" i="0" lang="en-US" sz="16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Deep-dive SQL querying using Window Functions and Stored Procedures for automation.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99841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43448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87056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809625" y="571500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RELATIONAL SCHEMA &amp; NORMALIZATION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571500" y="2132558"/>
            <a:ext cx="11049000" cy="34766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7" name="Google Shape;137;p17"/>
          <p:cNvGraphicFramePr/>
          <p:nvPr/>
        </p:nvGraphicFramePr>
        <p:xfrm>
          <a:off x="571500" y="21325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{EAB6B7D5-AE7C-4BA8-8996-2F86802B87AE}</a:tableStyleId>
              </a:tblPr>
              <a:tblGrid>
                <a:gridCol w="2027325"/>
                <a:gridCol w="2087325"/>
                <a:gridCol w="3155000"/>
                <a:gridCol w="3779350"/>
              </a:tblGrid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Entity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Primary Keys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Core Attributes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Business 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Patients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patient_id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DOB, Gender, City, Contact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Demographic cohort profiling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Doctors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doctor_id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Specialty, Email, Phone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Resource availability tracking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Appointments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appointment_id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Date, Time, Reason,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Operational workload monitoring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Treatments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treatment_id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Diagnosis, Details, Date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Clinical outcome mapping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Billing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billing_id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Amount, Payment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Financial resolution tracking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17"/>
          <p:cNvSpPr/>
          <p:nvPr/>
        </p:nvSpPr>
        <p:spPr>
          <a:xfrm>
            <a:off x="571500" y="3280320"/>
            <a:ext cx="20273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2598836" y="3280320"/>
            <a:ext cx="20873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4686151" y="3280320"/>
            <a:ext cx="31550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7841158" y="3280320"/>
            <a:ext cx="37793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71500" y="3861345"/>
            <a:ext cx="20273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2598836" y="3861345"/>
            <a:ext cx="20873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4686151" y="3861345"/>
            <a:ext cx="31550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7841158" y="3861345"/>
            <a:ext cx="37793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71500" y="4442370"/>
            <a:ext cx="20273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2598836" y="4442370"/>
            <a:ext cx="20873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4686151" y="4442370"/>
            <a:ext cx="31550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841158" y="4442370"/>
            <a:ext cx="37793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71500" y="5023395"/>
            <a:ext cx="20273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2598836" y="5023395"/>
            <a:ext cx="20873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4686151" y="5023395"/>
            <a:ext cx="31550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7841158" y="5023395"/>
            <a:ext cx="37793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46833"/>
            <a:ext cx="3492549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46833"/>
            <a:ext cx="3492549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46833"/>
            <a:ext cx="3492549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809625" y="571500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CORE ENGINEERING CAPABILITIES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952500" y="3266033"/>
            <a:ext cx="28670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Automated ETL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52500" y="3751808"/>
            <a:ext cx="27305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Engineered dynamic data mapping using SQLAlchemy to transition unstructured clinical logs into structured relational assets.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4730799" y="3266033"/>
            <a:ext cx="28670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Stored Procedures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4730799" y="3751808"/>
            <a:ext cx="27305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Automated annual diagnosis reporting logic through parametric SQL routines, reducing manual query overhead for admins.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509099" y="3266033"/>
            <a:ext cx="28670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Data Integrity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509099" y="3751808"/>
            <a:ext cx="27305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Implemented Foreign Key constraints and schema validation to ensure 100% referential accuracy across the patient journey.</a:t>
            </a:r>
            <a:endParaRPr/>
          </a:p>
        </p:txBody>
      </p:sp>
      <p:pic>
        <p:nvPicPr>
          <p:cNvPr descr="image.png" id="170" name="Google Shape;17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484983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48498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484983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809625" y="571500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DELIVERY EFFICIENCY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1285875" y="3008858"/>
            <a:ext cx="3429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20%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1285875" y="4437608"/>
            <a:ext cx="34290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62"/>
                </a:solidFill>
                <a:latin typeface="DM Sans"/>
                <a:ea typeface="DM Sans"/>
                <a:cs typeface="DM Sans"/>
                <a:sym typeface="DM Sans"/>
              </a:rPr>
              <a:t>ACCELERATION VIA AI AGENTS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143625" y="3151733"/>
            <a:ext cx="5000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Modern Efficiency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143625" y="3370808"/>
            <a:ext cx="4762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By leveraging AI productivity agents (Claude &amp; GitHub Copilot) for prompt-engineered SQL generation and unit testing, development cycles were reduced while maintaining high-quality code standards.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5390"/>
            <a:ext cx="11049000" cy="483110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809625" y="571500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PHYSICIAN UTILIZATION BY SPECIALTY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493290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Analysis derived from the multi-table JOIN aggregation of doctor specialties and patient appointment volumes.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809625" y="571500"/>
            <a:ext cx="11351418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PATIENT DEMOGRAPHIC TRENDS: UNDER 10 YEARS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571500" y="571500"/>
            <a:ext cx="76200" cy="100578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596547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Leveraging TIMESTAMPDIFF functions to isolate pediatric diagnostic spikes and inform staffing for pediatric wings.</a:t>
            </a:r>
            <a:endParaRPr/>
          </a:p>
        </p:txBody>
      </p:sp>
      <p:pic>
        <p:nvPicPr>
          <p:cNvPr descr="image.png" id="201" name="Google Shape;20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2345977"/>
            <a:ext cx="110299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90550" y="5803552"/>
            <a:ext cx="11029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D62"/>
                </a:solidFill>
                <a:latin typeface="DM Sans"/>
                <a:ea typeface="DM Sans"/>
                <a:cs typeface="DM Sans"/>
                <a:sym typeface="DM Sans"/>
              </a:rPr>
              <a:t>JanMarMayJulSepNov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809625" y="571500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AUTOMATED INSIGHTS ENGINE</a:t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1000125" y="2389137"/>
            <a:ext cx="10620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Dynamic Reporting:</a:t>
            </a:r>
            <a:r>
              <a:rPr b="0" i="0" lang="en-US" sz="16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Parametric Stored Procedures allowing one-click retrieval of annual clinical workload statistics.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1000125" y="3297584"/>
            <a:ext cx="10620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Financial Auditing:</a:t>
            </a:r>
            <a:r>
              <a:rPr b="0" i="0" lang="en-US" sz="16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Integrated billing resolution tracking to identify high-revenue treatment categories.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1000125" y="3870870"/>
            <a:ext cx="10620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Data Cleaning:</a:t>
            </a:r>
            <a:r>
              <a:rPr b="0" i="0" lang="en-US" sz="16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Automated Python-based data normalization for incoming historical records to ensure schema consistency.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1000125" y="4779317"/>
            <a:ext cx="10620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Business Scalability:</a:t>
            </a:r>
            <a:r>
              <a:rPr b="0" i="0" lang="en-US" sz="165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Relational design allows for seamless future integration of Insurance and Lab entities.</a:t>
            </a:r>
            <a:endParaRPr/>
          </a:p>
        </p:txBody>
      </p:sp>
      <p:pic>
        <p:nvPicPr>
          <p:cNvPr descr="image.png" id="214" name="Google Shape;2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20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4044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1373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22180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2190750" y="1738312"/>
            <a:ext cx="7810500" cy="2800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5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 "True technical analysis is not just about building a database; it is about translating complex, siloed operational problems into a scalable digital blueprint that drives business growth." 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1809750" y="5205263"/>
            <a:ext cx="85725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PROJECT VISION &amp; TECHNICAL PHILOSOPHY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1619250" y="1166812"/>
            <a:ext cx="561975" cy="143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 txBox="1"/>
          <p:nvPr/>
        </p:nvSpPr>
        <p:spPr>
          <a:xfrm>
            <a:off x="295275" y="571500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571500" y="152400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Thank you for your time.</a:t>
            </a:r>
            <a:endParaRPr/>
          </a:p>
        </p:txBody>
      </p:sp>
      <p:sp>
        <p:nvSpPr>
          <p:cNvPr id="233" name="Google Shape;233;p24"/>
          <p:cNvSpPr/>
          <p:nvPr/>
        </p:nvSpPr>
        <p:spPr>
          <a:xfrm>
            <a:off x="5619750" y="3356520"/>
            <a:ext cx="9525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571500" y="246117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Debolina Das | Technical Analyst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571500" y="276597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West Bengal | linkedin.com/in/debolinadas24/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/>
        </p:nvSpPr>
        <p:spPr>
          <a:xfrm>
            <a:off x="809625" y="571500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42" name="Google Shape;242;p25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571500" y="299189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571500" y="37671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571500" y="37671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6" name="Google Shape;24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413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 txBox="1"/>
          <p:nvPr/>
        </p:nvSpPr>
        <p:spPr>
          <a:xfrm>
            <a:off x="1666875" y="313476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https://miro.medium.com/1*UV6lmYquXIyAYfszxXuS4A.jpeg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1666875" y="338048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medium.com</a:t>
            </a:r>
            <a:endParaRPr/>
          </a:p>
        </p:txBody>
      </p:sp>
      <p:pic>
        <p:nvPicPr>
          <p:cNvPr descr="image.png" id="249" name="Google Shape;24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252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 txBox="1"/>
          <p:nvPr/>
        </p:nvSpPr>
        <p:spPr>
          <a:xfrm>
            <a:off x="1666875" y="391953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https://media.istockphoto.com/id/2243516829/vector/futuristic-technology-circuit-blueprint-pattern-background.jpg?s=612x612&amp;w=0&amp;k=20&amp;c=TYMHqIFL4UL9b79nMoIHHsAaHZ_Jv9j1PFrwoDCwKX0=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1666875" y="436334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www.istockphoto.com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